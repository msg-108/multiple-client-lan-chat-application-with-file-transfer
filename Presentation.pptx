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1"/>
    <p:sldId id="260" r:id="rId12"/>
    <p:sldId id="261" r:id="rId13"/>
    <p:sldId id="262" r:id="rId14"/>
    <p:sldId id="263" r:id="rId15"/>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notesMaster" Target="notesMasters/notesMaster1.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designed a fixed-header protocol rather than using delimiters because scanning bytes is slow and binary files naturally contain characters like newlines. To prevent race conditions, the server checks for duplicate usernames and registers new ones under a single, continuous mutex lock. For broadcasting, the server copies target sockets locally and releases the mutex before sending, ensuring a slow client's network connection cannot freeze the entire server.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the client operated on a single thread, it would deadlock. It would be stuck waiting for user keyboard input on stdin and unable to receive network messages, or vice versa. By utilizing two POSIX threads, one handles blocking terminal input while the other continuously listens on the TCP socket, allowing seamless real-time interaction.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Files are sent in up to 1024-byte chunks. The receiver only writes the exact payload length specified by the Header, preventing garbage padding on the final chunk. We explicitly open files in binary mode to stop OS-level newline translations from destroying compiled binaries or images. If a sender disconnects prematurely, the server synthesizes a file end signal, prompting the receiver to safely delete the corrupted partial file.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0D6E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371600"/>
            <a:ext cx="11155680" cy="1828800"/>
          </a:xfrm>
          <a:prstGeom prst="rect">
            <a:avLst/>
          </a:prstGeom>
          <a:noFill/>
        </p:spPr>
        <p:txBody>
          <a:bodyPr wrap="square">
            <a:spAutoFit/>
          </a:bodyPr>
          <a:lstStyle/>
          <a:p>
            <a:pPr algn="l"/>
            <a:r>
              <a:rPr sz="4200" b="1" i="0">
                <a:solidFill>
                  <a:srgbClr val="FFFFFF"/>
                </a:solidFill>
                <a:latin typeface="Calibri"/>
              </a:rPr>
              <a:t>Multiple-Client LAN Chat Application
with File Transfer</a:t>
            </a:r>
          </a:p>
        </p:txBody>
      </p:sp>
      <p:sp>
        <p:nvSpPr>
          <p:cNvPr id="4" name="Rectangle 3"/>
          <p:cNvSpPr/>
          <p:nvPr/>
        </p:nvSpPr>
        <p:spPr>
          <a:xfrm>
            <a:off x="502920" y="3291840"/>
            <a:ext cx="11155680" cy="25400"/>
          </a:xfrm>
          <a:prstGeom prst="rect">
            <a:avLst/>
          </a:prstGeom>
          <a:solidFill>
            <a:srgbClr val="0D6E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3429000"/>
            <a:ext cx="5486400" cy="457200"/>
          </a:xfrm>
          <a:prstGeom prst="rect">
            <a:avLst/>
          </a:prstGeom>
          <a:noFill/>
        </p:spPr>
        <p:txBody>
          <a:bodyPr wrap="square">
            <a:spAutoFit/>
          </a:bodyPr>
          <a:lstStyle/>
          <a:p>
            <a:pPr algn="l"/>
            <a:r>
              <a:rPr sz="2200" b="1" i="0">
                <a:solidFill>
                  <a:srgbClr val="0D6EFD"/>
                </a:solidFill>
                <a:latin typeface="Calibri"/>
              </a:rPr>
              <a:t>Network Programming</a:t>
            </a:r>
          </a:p>
        </p:txBody>
      </p:sp>
      <p:sp>
        <p:nvSpPr>
          <p:cNvPr id="6" name="TextBox 5"/>
          <p:cNvSpPr txBox="1"/>
          <p:nvPr/>
        </p:nvSpPr>
        <p:spPr>
          <a:xfrm>
            <a:off x="502920" y="4160520"/>
            <a:ext cx="7315200" cy="411480"/>
          </a:xfrm>
          <a:prstGeom prst="rect">
            <a:avLst/>
          </a:prstGeom>
          <a:noFill/>
        </p:spPr>
        <p:txBody>
          <a:bodyPr wrap="square">
            <a:spAutoFit/>
          </a:bodyPr>
          <a:lstStyle/>
          <a:p>
            <a:pPr algn="l"/>
            <a:r>
              <a:rPr sz="2000" b="0" i="0">
                <a:solidFill>
                  <a:srgbClr val="BBC7D6"/>
                </a:solidFill>
                <a:latin typeface="Calibri"/>
              </a:rPr>
              <a:t>Madhusudhan Gharti   –   Server &amp; Protocol</a:t>
            </a:r>
          </a:p>
        </p:txBody>
      </p:sp>
      <p:sp>
        <p:nvSpPr>
          <p:cNvPr id="7" name="TextBox 6"/>
          <p:cNvSpPr txBox="1"/>
          <p:nvPr/>
        </p:nvSpPr>
        <p:spPr>
          <a:xfrm>
            <a:off x="502920" y="4617720"/>
            <a:ext cx="7315200" cy="411480"/>
          </a:xfrm>
          <a:prstGeom prst="rect">
            <a:avLst/>
          </a:prstGeom>
          <a:noFill/>
        </p:spPr>
        <p:txBody>
          <a:bodyPr wrap="square">
            <a:spAutoFit/>
          </a:bodyPr>
          <a:lstStyle/>
          <a:p>
            <a:pPr algn="l"/>
            <a:r>
              <a:rPr sz="2000" b="0" i="0">
                <a:solidFill>
                  <a:srgbClr val="BBC7D6"/>
                </a:solidFill>
                <a:latin typeface="Calibri"/>
              </a:rPr>
              <a:t>Aman Joshi              –   Client</a:t>
            </a:r>
          </a:p>
        </p:txBody>
      </p:sp>
      <p:sp>
        <p:nvSpPr>
          <p:cNvPr id="8" name="TextBox 7"/>
          <p:cNvSpPr txBox="1"/>
          <p:nvPr/>
        </p:nvSpPr>
        <p:spPr>
          <a:xfrm>
            <a:off x="502920" y="5074920"/>
            <a:ext cx="7315200" cy="411480"/>
          </a:xfrm>
          <a:prstGeom prst="rect">
            <a:avLst/>
          </a:prstGeom>
          <a:noFill/>
        </p:spPr>
        <p:txBody>
          <a:bodyPr wrap="square">
            <a:spAutoFit/>
          </a:bodyPr>
          <a:lstStyle/>
          <a:p>
            <a:pPr algn="l"/>
            <a:r>
              <a:rPr sz="2000" b="0" i="0">
                <a:solidFill>
                  <a:srgbClr val="BBC7D6"/>
                </a:solidFill>
                <a:latin typeface="Calibri"/>
              </a:rPr>
              <a:t>Siddhanta Chhetri    –   File Transfer &amp; Docs</a:t>
            </a:r>
          </a:p>
        </p:txBody>
      </p:sp>
      <p:sp>
        <p:nvSpPr>
          <p:cNvPr id="9" name="TextBox 8"/>
          <p:cNvSpPr txBox="1"/>
          <p:nvPr/>
        </p:nvSpPr>
        <p:spPr>
          <a:xfrm>
            <a:off x="10972800" y="6492240"/>
            <a:ext cx="1005840" cy="274320"/>
          </a:xfrm>
          <a:prstGeom prst="rect">
            <a:avLst/>
          </a:prstGeom>
          <a:noFill/>
        </p:spPr>
        <p:txBody>
          <a:bodyPr wrap="square">
            <a:spAutoFit/>
          </a:bodyPr>
          <a:lstStyle/>
          <a:p>
            <a:pPr algn="r"/>
            <a:r>
              <a:rPr sz="1100" b="0" i="0">
                <a:solidFill>
                  <a:srgbClr val="4A5E75"/>
                </a:solidFill>
                <a:latin typeface="Calibri"/>
              </a:rPr>
              <a:t>1 / 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548640" y="347472"/>
            <a:ext cx="11091672" cy="594360"/>
          </a:xfrm>
          <a:prstGeom prst="rect">
            <a:avLst/>
          </a:prstGeom>
          <a:noFill/>
        </p:spPr>
        <p:txBody>
          <a:bodyPr wrap="square">
            <a:spAutoFit/>
          </a:bodyPr>
          <a:lstStyle/>
          <a:p>
            <a:pPr algn="l"/>
            <a:r>
              <a:rPr sz="3600" b="1" i="0">
                <a:solidFill>
                  <a:srgbClr val="FFFFFF"/>
                </a:solidFill>
                <a:latin typeface="Calibri"/>
              </a:rPr>
              <a:t>Architecture Overview</a:t>
            </a:r>
          </a:p>
        </p:txBody>
      </p:sp>
      <p:sp>
        <p:nvSpPr>
          <p:cNvPr id="3" name="Rectangle 2"/>
          <p:cNvSpPr/>
          <p:nvPr/>
        </p:nvSpPr>
        <p:spPr>
          <a:xfrm>
            <a:off x="548640" y="969264"/>
            <a:ext cx="11091672" cy="25400"/>
          </a:xfrm>
          <a:prstGeom prst="rect">
            <a:avLst/>
          </a:prstGeom>
          <a:solidFill>
            <a:srgbClr val="0D6E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188720"/>
            <a:ext cx="5120640" cy="5303520"/>
          </a:xfrm>
          <a:prstGeom prst="rect">
            <a:avLst/>
          </a:prstGeom>
          <a:noFill/>
        </p:spPr>
        <p:txBody>
          <a:bodyPr wrap="square">
            <a:spAutoFit/>
          </a:bodyPr>
          <a:lstStyle/>
          <a:p>
            <a:pPr>
              <a:spcBef>
                <a:spcPts val="400"/>
              </a:spcBef>
              <a:spcAft>
                <a:spcPts val="400"/>
              </a:spcAft>
            </a:pPr>
            <a:r>
              <a:rPr sz="2200" b="0">
                <a:solidFill>
                  <a:srgbClr val="BBC7D6"/>
                </a:solidFill>
                <a:latin typeface="Calibri"/>
              </a:rPr>
              <a:t>•  Central server coordinates multiple TCP client connections.</a:t>
            </a:r>
          </a:p>
          <a:p>
            <a:pPr>
              <a:spcBef>
                <a:spcPts val="400"/>
              </a:spcBef>
              <a:spcAft>
                <a:spcPts val="400"/>
              </a:spcAft>
            </a:pPr>
            <a:r>
              <a:rPr sz="2200" b="0">
                <a:solidFill>
                  <a:srgbClr val="BBC7D6"/>
                </a:solidFill>
                <a:latin typeface="Calibri"/>
              </a:rPr>
              <a:t>•  Server broadcasts chat messages to all other clients.</a:t>
            </a:r>
          </a:p>
          <a:p>
            <a:pPr>
              <a:spcBef>
                <a:spcPts val="400"/>
              </a:spcBef>
              <a:spcAft>
                <a:spcPts val="400"/>
              </a:spcAft>
            </a:pPr>
            <a:r>
              <a:rPr sz="2200" b="0">
                <a:solidFill>
                  <a:srgbClr val="BBC7D6"/>
                </a:solidFill>
                <a:latin typeface="Calibri"/>
              </a:rPr>
              <a:t>•  File transfers use point-to-point routing directly to recipients.</a:t>
            </a:r>
          </a:p>
        </p:txBody>
      </p:sp>
      <p:sp>
        <p:nvSpPr>
          <p:cNvPr id="5" name="Rectangle 4"/>
          <p:cNvSpPr/>
          <p:nvPr/>
        </p:nvSpPr>
        <p:spPr>
          <a:xfrm>
            <a:off x="8138160" y="2560320"/>
            <a:ext cx="1920240" cy="685800"/>
          </a:xfrm>
          <a:prstGeom prst="rect">
            <a:avLst/>
          </a:prstGeom>
          <a:solidFill>
            <a:srgbClr val="0D6EF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a:solidFill>
                  <a:srgbClr val="FFFFFF"/>
                </a:solidFill>
                <a:latin typeface="Calibri"/>
              </a:rPr>
              <a:t>Server</a:t>
            </a:r>
          </a:p>
        </p:txBody>
      </p:sp>
      <p:sp>
        <p:nvSpPr>
          <p:cNvPr id="6" name="Rectangle 5"/>
          <p:cNvSpPr/>
          <p:nvPr/>
        </p:nvSpPr>
        <p:spPr>
          <a:xfrm>
            <a:off x="6126480" y="1188720"/>
            <a:ext cx="1645920" cy="594360"/>
          </a:xfrm>
          <a:prstGeom prst="rect">
            <a:avLst/>
          </a:prstGeom>
          <a:solidFill>
            <a:srgbClr val="4A5E7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0">
                <a:solidFill>
                  <a:srgbClr val="FFFFFF"/>
                </a:solidFill>
                <a:latin typeface="Calibri"/>
              </a:rPr>
              <a:t>Client 1</a:t>
            </a:r>
          </a:p>
        </p:txBody>
      </p:sp>
      <p:sp>
        <p:nvSpPr>
          <p:cNvPr id="7" name="Rectangle 6"/>
          <p:cNvSpPr/>
          <p:nvPr/>
        </p:nvSpPr>
        <p:spPr>
          <a:xfrm>
            <a:off x="10515600" y="1188720"/>
            <a:ext cx="1645920" cy="594360"/>
          </a:xfrm>
          <a:prstGeom prst="rect">
            <a:avLst/>
          </a:prstGeom>
          <a:solidFill>
            <a:srgbClr val="4A5E7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0">
                <a:solidFill>
                  <a:srgbClr val="FFFFFF"/>
                </a:solidFill>
                <a:latin typeface="Calibri"/>
              </a:rPr>
              <a:t>Client 2</a:t>
            </a:r>
          </a:p>
        </p:txBody>
      </p:sp>
      <p:sp>
        <p:nvSpPr>
          <p:cNvPr id="8" name="Rectangle 7"/>
          <p:cNvSpPr/>
          <p:nvPr/>
        </p:nvSpPr>
        <p:spPr>
          <a:xfrm>
            <a:off x="8275320" y="4572000"/>
            <a:ext cx="1645920" cy="594360"/>
          </a:xfrm>
          <a:prstGeom prst="rect">
            <a:avLst/>
          </a:prstGeom>
          <a:solidFill>
            <a:srgbClr val="4A5E7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0">
                <a:solidFill>
                  <a:srgbClr val="FFFFFF"/>
                </a:solidFill>
                <a:latin typeface="Calibri"/>
              </a:rPr>
              <a:t>Client 3</a:t>
            </a:r>
          </a:p>
        </p:txBody>
      </p:sp>
      <p:sp>
        <p:nvSpPr>
          <p:cNvPr id="9" name="Rectangle 8"/>
          <p:cNvSpPr/>
          <p:nvPr/>
        </p:nvSpPr>
        <p:spPr>
          <a:xfrm>
            <a:off x="6936740" y="1485900"/>
            <a:ext cx="31750" cy="1417320"/>
          </a:xfrm>
          <a:prstGeom prst="rect">
            <a:avLst/>
          </a:prstGeom>
          <a:solidFill>
            <a:srgbClr val="5BC0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949440" y="2890520"/>
            <a:ext cx="2148840" cy="31750"/>
          </a:xfrm>
          <a:prstGeom prst="rect">
            <a:avLst/>
          </a:prstGeom>
          <a:solidFill>
            <a:srgbClr val="5BC0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1325860" y="1485900"/>
            <a:ext cx="31750" cy="1417320"/>
          </a:xfrm>
          <a:prstGeom prst="rect">
            <a:avLst/>
          </a:prstGeom>
          <a:solidFill>
            <a:srgbClr val="5BC0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9098280" y="2890520"/>
            <a:ext cx="2240280" cy="31750"/>
          </a:xfrm>
          <a:prstGeom prst="rect">
            <a:avLst/>
          </a:prstGeom>
          <a:solidFill>
            <a:srgbClr val="5BC0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9085580" y="3246120"/>
            <a:ext cx="31750" cy="1325880"/>
          </a:xfrm>
          <a:prstGeom prst="rect">
            <a:avLst/>
          </a:prstGeom>
          <a:solidFill>
            <a:srgbClr val="5BC0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943600" y="2331720"/>
            <a:ext cx="1920240" cy="320040"/>
          </a:xfrm>
          <a:prstGeom prst="rect">
            <a:avLst/>
          </a:prstGeom>
          <a:noFill/>
        </p:spPr>
        <p:txBody>
          <a:bodyPr wrap="none">
            <a:spAutoFit/>
          </a:bodyPr>
          <a:lstStyle/>
          <a:p>
            <a:pPr algn="ctr"/>
            <a:r>
              <a:rPr sz="1200" i="1">
                <a:solidFill>
                  <a:srgbClr val="5BC0DE"/>
                </a:solidFill>
                <a:latin typeface="Calibri"/>
              </a:rPr>
              <a:t>Broadcast (Chat)</a:t>
            </a:r>
          </a:p>
        </p:txBody>
      </p:sp>
      <p:sp>
        <p:nvSpPr>
          <p:cNvPr id="15" name="TextBox 14"/>
          <p:cNvSpPr txBox="1"/>
          <p:nvPr/>
        </p:nvSpPr>
        <p:spPr>
          <a:xfrm>
            <a:off x="10058400" y="2331720"/>
            <a:ext cx="2103120" cy="320040"/>
          </a:xfrm>
          <a:prstGeom prst="rect">
            <a:avLst/>
          </a:prstGeom>
          <a:noFill/>
        </p:spPr>
        <p:txBody>
          <a:bodyPr wrap="none">
            <a:spAutoFit/>
          </a:bodyPr>
          <a:lstStyle/>
          <a:p>
            <a:pPr algn="ctr"/>
            <a:r>
              <a:rPr sz="1200" i="1">
                <a:solidFill>
                  <a:srgbClr val="0D6EFD"/>
                </a:solidFill>
                <a:latin typeface="Calibri"/>
              </a:rPr>
              <a:t>Point-to-Point (File)</a:t>
            </a:r>
          </a:p>
        </p:txBody>
      </p:sp>
      <p:sp>
        <p:nvSpPr>
          <p:cNvPr id="16" name="TextBox 15"/>
          <p:cNvSpPr txBox="1"/>
          <p:nvPr/>
        </p:nvSpPr>
        <p:spPr>
          <a:xfrm>
            <a:off x="10972800" y="6492240"/>
            <a:ext cx="1005840" cy="274320"/>
          </a:xfrm>
          <a:prstGeom prst="rect">
            <a:avLst/>
          </a:prstGeom>
          <a:noFill/>
        </p:spPr>
        <p:txBody>
          <a:bodyPr wrap="square">
            <a:spAutoFit/>
          </a:bodyPr>
          <a:lstStyle/>
          <a:p>
            <a:pPr algn="r"/>
            <a:r>
              <a:rPr sz="1100" b="0" i="0">
                <a:solidFill>
                  <a:srgbClr val="4A5E75"/>
                </a:solidFill>
                <a:latin typeface="Calibri"/>
              </a:rPr>
              <a:t>2 / 8</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548640" y="347472"/>
            <a:ext cx="11091672" cy="594360"/>
          </a:xfrm>
          <a:prstGeom prst="rect">
            <a:avLst/>
          </a:prstGeom>
          <a:noFill/>
        </p:spPr>
        <p:txBody>
          <a:bodyPr wrap="square">
            <a:spAutoFit/>
          </a:bodyPr>
          <a:lstStyle/>
          <a:p>
            <a:pPr algn="l"/>
            <a:r>
              <a:rPr sz="3600" b="1" i="0">
                <a:solidFill>
                  <a:srgbClr val="FFFFFF"/>
                </a:solidFill>
                <a:latin typeface="Calibri"/>
              </a:rPr>
              <a:t>Server &amp; Protocol</a:t>
            </a:r>
          </a:p>
        </p:txBody>
      </p:sp>
      <p:sp>
        <p:nvSpPr>
          <p:cNvPr id="3" name="Rectangle 2"/>
          <p:cNvSpPr/>
          <p:nvPr/>
        </p:nvSpPr>
        <p:spPr>
          <a:xfrm>
            <a:off x="548640" y="969264"/>
            <a:ext cx="11091672" cy="25400"/>
          </a:xfrm>
          <a:prstGeom prst="rect">
            <a:avLst/>
          </a:prstGeom>
          <a:solidFill>
            <a:srgbClr val="0D6E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188720"/>
            <a:ext cx="5486400" cy="5303520"/>
          </a:xfrm>
          <a:prstGeom prst="rect">
            <a:avLst/>
          </a:prstGeom>
          <a:noFill/>
        </p:spPr>
        <p:txBody>
          <a:bodyPr wrap="square">
            <a:spAutoFit/>
          </a:bodyPr>
          <a:lstStyle/>
          <a:p>
            <a:pPr>
              <a:spcBef>
                <a:spcPts val="400"/>
              </a:spcBef>
              <a:spcAft>
                <a:spcPts val="400"/>
              </a:spcAft>
            </a:pPr>
            <a:r>
              <a:rPr sz="2200" b="0">
                <a:solidFill>
                  <a:srgbClr val="BBC7D6"/>
                </a:solidFill>
                <a:latin typeface="Calibri"/>
              </a:rPr>
              <a:t>•  Protocol uses a fixed 8-byte Header with payload length.</a:t>
            </a:r>
          </a:p>
          <a:p>
            <a:pPr>
              <a:spcBef>
                <a:spcPts val="400"/>
              </a:spcBef>
              <a:spcAft>
                <a:spcPts val="400"/>
              </a:spcAft>
            </a:pPr>
            <a:r>
              <a:rPr sz="2200" b="0">
                <a:solidFill>
                  <a:srgbClr val="BBC7D6"/>
                </a:solidFill>
                <a:latin typeface="Calibri"/>
              </a:rPr>
              <a:t>•  Atomic duplicate-username checks occur inside a single mutex lock.</a:t>
            </a:r>
          </a:p>
          <a:p>
            <a:pPr>
              <a:spcBef>
                <a:spcPts val="400"/>
              </a:spcBef>
              <a:spcAft>
                <a:spcPts val="400"/>
              </a:spcAft>
            </a:pPr>
            <a:r>
              <a:rPr sz="2200" b="0">
                <a:solidFill>
                  <a:srgbClr val="BBC7D6"/>
                </a:solidFill>
                <a:latin typeface="Calibri"/>
              </a:rPr>
              <a:t>•  Broadcasts use a copy-then-release pattern to prevent locking.</a:t>
            </a:r>
          </a:p>
        </p:txBody>
      </p:sp>
      <p:sp>
        <p:nvSpPr>
          <p:cNvPr id="5" name="Rectangle 4"/>
          <p:cNvSpPr/>
          <p:nvPr/>
        </p:nvSpPr>
        <p:spPr>
          <a:xfrm>
            <a:off x="6675120" y="2011680"/>
            <a:ext cx="2377440" cy="1005840"/>
          </a:xfrm>
          <a:prstGeom prst="rect">
            <a:avLst/>
          </a:prstGeom>
          <a:solidFill>
            <a:srgbClr val="0D6EFD"/>
          </a:solidFill>
          <a:ln w="1524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FFFFFF"/>
                </a:solidFill>
                <a:latin typeface="Calibri"/>
              </a:rPr>
              <a:t>type
(int32 · 4 bytes)</a:t>
            </a:r>
          </a:p>
        </p:txBody>
      </p:sp>
      <p:sp>
        <p:nvSpPr>
          <p:cNvPr id="6" name="Rectangle 5"/>
          <p:cNvSpPr/>
          <p:nvPr/>
        </p:nvSpPr>
        <p:spPr>
          <a:xfrm>
            <a:off x="9052560" y="2011680"/>
            <a:ext cx="2377440" cy="1005840"/>
          </a:xfrm>
          <a:prstGeom prst="rect">
            <a:avLst/>
          </a:prstGeom>
          <a:solidFill>
            <a:srgbClr val="0947B5"/>
          </a:solidFill>
          <a:ln w="1524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FFFFFF"/>
                </a:solidFill>
                <a:latin typeface="Calibri"/>
              </a:rPr>
              <a:t>length
(int32 · 4 bytes)</a:t>
            </a:r>
          </a:p>
        </p:txBody>
      </p:sp>
      <p:sp>
        <p:nvSpPr>
          <p:cNvPr id="7" name="TextBox 6"/>
          <p:cNvSpPr txBox="1"/>
          <p:nvPr/>
        </p:nvSpPr>
        <p:spPr>
          <a:xfrm>
            <a:off x="6492240" y="3063240"/>
            <a:ext cx="5029200" cy="320040"/>
          </a:xfrm>
          <a:prstGeom prst="rect">
            <a:avLst/>
          </a:prstGeom>
          <a:noFill/>
        </p:spPr>
        <p:txBody>
          <a:bodyPr wrap="none">
            <a:spAutoFit/>
          </a:bodyPr>
          <a:lstStyle/>
          <a:p>
            <a:pPr algn="ctr"/>
            <a:r>
              <a:rPr sz="1300" i="1">
                <a:solidFill>
                  <a:srgbClr val="BBC7D6"/>
                </a:solidFill>
                <a:latin typeface="Calibri"/>
              </a:rPr>
              <a:t>← Fixed 8-byte Header →</a:t>
            </a:r>
          </a:p>
        </p:txBody>
      </p:sp>
      <p:sp>
        <p:nvSpPr>
          <p:cNvPr id="8" name="Rectangle 7"/>
          <p:cNvSpPr/>
          <p:nvPr/>
        </p:nvSpPr>
        <p:spPr>
          <a:xfrm>
            <a:off x="6675120" y="3429000"/>
            <a:ext cx="4754880" cy="731520"/>
          </a:xfrm>
          <a:prstGeom prst="rect">
            <a:avLst/>
          </a:prstGeom>
          <a:solidFill>
            <a:srgbClr val="4A5E75"/>
          </a:solidFill>
          <a:ln w="15240">
            <a:solidFill>
              <a:srgbClr val="BBC7D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0">
                <a:solidFill>
                  <a:srgbClr val="FFFFFF"/>
                </a:solidFill>
                <a:latin typeface="Calibri"/>
              </a:rPr>
              <a:t>Payload  (length bytes — chat string, binary chunk, etc.)</a:t>
            </a:r>
          </a:p>
        </p:txBody>
      </p:sp>
      <p:sp>
        <p:nvSpPr>
          <p:cNvPr id="9" name="TextBox 8"/>
          <p:cNvSpPr txBox="1"/>
          <p:nvPr/>
        </p:nvSpPr>
        <p:spPr>
          <a:xfrm>
            <a:off x="10972800" y="6492240"/>
            <a:ext cx="1005840" cy="274320"/>
          </a:xfrm>
          <a:prstGeom prst="rect">
            <a:avLst/>
          </a:prstGeom>
          <a:noFill/>
        </p:spPr>
        <p:txBody>
          <a:bodyPr wrap="square">
            <a:spAutoFit/>
          </a:bodyPr>
          <a:lstStyle/>
          <a:p>
            <a:pPr algn="r"/>
            <a:r>
              <a:rPr sz="1100" b="0" i="0">
                <a:solidFill>
                  <a:srgbClr val="4A5E75"/>
                </a:solidFill>
                <a:latin typeface="Calibri"/>
              </a:rPr>
              <a:t>3 / 8</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548640" y="347472"/>
            <a:ext cx="11091672" cy="594360"/>
          </a:xfrm>
          <a:prstGeom prst="rect">
            <a:avLst/>
          </a:prstGeom>
          <a:noFill/>
        </p:spPr>
        <p:txBody>
          <a:bodyPr wrap="square">
            <a:spAutoFit/>
          </a:bodyPr>
          <a:lstStyle/>
          <a:p>
            <a:pPr algn="l"/>
            <a:r>
              <a:rPr sz="3600" b="1" i="0">
                <a:solidFill>
                  <a:srgbClr val="FFFFFF"/>
                </a:solidFill>
                <a:latin typeface="Calibri"/>
              </a:rPr>
              <a:t>Client Architecture</a:t>
            </a:r>
          </a:p>
        </p:txBody>
      </p:sp>
      <p:sp>
        <p:nvSpPr>
          <p:cNvPr id="3" name="Rectangle 2"/>
          <p:cNvSpPr/>
          <p:nvPr/>
        </p:nvSpPr>
        <p:spPr>
          <a:xfrm>
            <a:off x="548640" y="969264"/>
            <a:ext cx="11091672" cy="25400"/>
          </a:xfrm>
          <a:prstGeom prst="rect">
            <a:avLst/>
          </a:prstGeom>
          <a:solidFill>
            <a:srgbClr val="0D6E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188720"/>
            <a:ext cx="5669280" cy="5303520"/>
          </a:xfrm>
          <a:prstGeom prst="rect">
            <a:avLst/>
          </a:prstGeom>
          <a:noFill/>
        </p:spPr>
        <p:txBody>
          <a:bodyPr wrap="square">
            <a:spAutoFit/>
          </a:bodyPr>
          <a:lstStyle/>
          <a:p>
            <a:pPr>
              <a:spcBef>
                <a:spcPts val="400"/>
              </a:spcBef>
              <a:spcAft>
                <a:spcPts val="400"/>
              </a:spcAft>
            </a:pPr>
            <a:r>
              <a:rPr sz="2200" b="0">
                <a:solidFill>
                  <a:srgbClr val="BBC7D6"/>
                </a:solidFill>
                <a:latin typeface="Calibri"/>
              </a:rPr>
              <a:t>•  Clients use a dual-thread design (input and receive threads).</a:t>
            </a:r>
          </a:p>
          <a:p>
            <a:pPr>
              <a:spcBef>
                <a:spcPts val="400"/>
              </a:spcBef>
              <a:spcAft>
                <a:spcPts val="400"/>
              </a:spcAft>
            </a:pPr>
            <a:r>
              <a:rPr sz="2200" b="0">
                <a:solidFill>
                  <a:srgbClr val="BBC7D6"/>
                </a:solidFill>
                <a:latin typeface="Calibri"/>
              </a:rPr>
              <a:t>•  Separate threads prevent blocking I/O from causing deadlocks.</a:t>
            </a:r>
          </a:p>
          <a:p>
            <a:pPr>
              <a:spcBef>
                <a:spcPts val="400"/>
              </a:spcBef>
              <a:spcAft>
                <a:spcPts val="400"/>
              </a:spcAft>
            </a:pPr>
            <a:r>
              <a:rPr sz="2200" b="0">
                <a:solidFill>
                  <a:srgbClr val="BBC7D6"/>
                </a:solidFill>
                <a:latin typeface="Calibri"/>
              </a:rPr>
              <a:t>•  Ensures simultaneous keyboard typing and network message receiving.</a:t>
            </a:r>
          </a:p>
        </p:txBody>
      </p:sp>
      <p:sp>
        <p:nvSpPr>
          <p:cNvPr id="5" name="Rectangle 4"/>
          <p:cNvSpPr/>
          <p:nvPr/>
        </p:nvSpPr>
        <p:spPr>
          <a:xfrm>
            <a:off x="6583680" y="1645920"/>
            <a:ext cx="2286000" cy="914400"/>
          </a:xfrm>
          <a:prstGeom prst="rect">
            <a:avLst/>
          </a:prstGeom>
          <a:solidFill>
            <a:srgbClr val="0D6EF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FFFFFF"/>
                </a:solidFill>
                <a:latin typeface="Calibri"/>
              </a:rPr>
              <a:t>Main Thread
(stdin / fgets)</a:t>
            </a:r>
          </a:p>
        </p:txBody>
      </p:sp>
      <p:sp>
        <p:nvSpPr>
          <p:cNvPr id="6" name="Rectangle 5"/>
          <p:cNvSpPr/>
          <p:nvPr/>
        </p:nvSpPr>
        <p:spPr>
          <a:xfrm>
            <a:off x="9326880" y="1645920"/>
            <a:ext cx="2286000" cy="914400"/>
          </a:xfrm>
          <a:prstGeom prst="rect">
            <a:avLst/>
          </a:prstGeom>
          <a:solidFill>
            <a:srgbClr val="4A5E7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0">
                <a:solidFill>
                  <a:srgbClr val="FFFFFF"/>
                </a:solidFill>
                <a:latin typeface="Calibri"/>
              </a:rPr>
              <a:t>Receiver Thread
(recv_all / socket)</a:t>
            </a:r>
          </a:p>
        </p:txBody>
      </p:sp>
      <p:sp>
        <p:nvSpPr>
          <p:cNvPr id="7" name="Rectangle 6"/>
          <p:cNvSpPr/>
          <p:nvPr/>
        </p:nvSpPr>
        <p:spPr>
          <a:xfrm>
            <a:off x="7132320" y="3108960"/>
            <a:ext cx="4297680" cy="685800"/>
          </a:xfrm>
          <a:prstGeom prst="rect">
            <a:avLst/>
          </a:prstGeom>
          <a:solidFill>
            <a:srgbClr val="1A365C"/>
          </a:solidFill>
          <a:ln w="15240">
            <a:solidFill>
              <a:srgbClr val="0D6EF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0">
                <a:solidFill>
                  <a:srgbClr val="FFFFFF"/>
                </a:solidFill>
                <a:latin typeface="Calibri"/>
              </a:rPr>
              <a:t>Shared State  (atomic_int is_running, socket fd)</a:t>
            </a:r>
          </a:p>
        </p:txBody>
      </p:sp>
      <p:sp>
        <p:nvSpPr>
          <p:cNvPr id="8" name="Rectangle 7"/>
          <p:cNvSpPr/>
          <p:nvPr/>
        </p:nvSpPr>
        <p:spPr>
          <a:xfrm>
            <a:off x="7713980" y="2560320"/>
            <a:ext cx="31750" cy="548640"/>
          </a:xfrm>
          <a:prstGeom prst="rect">
            <a:avLst/>
          </a:prstGeom>
          <a:solidFill>
            <a:srgbClr val="5BC0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0457180" y="2560320"/>
            <a:ext cx="31750" cy="548640"/>
          </a:xfrm>
          <a:prstGeom prst="rect">
            <a:avLst/>
          </a:prstGeom>
          <a:solidFill>
            <a:srgbClr val="5BC0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0" y="3977640"/>
            <a:ext cx="4937760" cy="320040"/>
          </a:xfrm>
          <a:prstGeom prst="rect">
            <a:avLst/>
          </a:prstGeom>
          <a:noFill/>
        </p:spPr>
        <p:txBody>
          <a:bodyPr wrap="none">
            <a:spAutoFit/>
          </a:bodyPr>
          <a:lstStyle/>
          <a:p>
            <a:pPr algn="ctr"/>
            <a:r>
              <a:rPr sz="1300" i="1">
                <a:solidFill>
                  <a:srgbClr val="BBC7D6"/>
                </a:solidFill>
                <a:latin typeface="Calibri"/>
              </a:rPr>
              <a:t>Concurrent Execution</a:t>
            </a:r>
          </a:p>
        </p:txBody>
      </p:sp>
      <p:sp>
        <p:nvSpPr>
          <p:cNvPr id="11" name="TextBox 10"/>
          <p:cNvSpPr txBox="1"/>
          <p:nvPr/>
        </p:nvSpPr>
        <p:spPr>
          <a:xfrm>
            <a:off x="10972800" y="6492240"/>
            <a:ext cx="1005840" cy="274320"/>
          </a:xfrm>
          <a:prstGeom prst="rect">
            <a:avLst/>
          </a:prstGeom>
          <a:noFill/>
        </p:spPr>
        <p:txBody>
          <a:bodyPr wrap="square">
            <a:spAutoFit/>
          </a:bodyPr>
          <a:lstStyle/>
          <a:p>
            <a:pPr algn="r"/>
            <a:r>
              <a:rPr sz="1100" b="0" i="0">
                <a:solidFill>
                  <a:srgbClr val="4A5E75"/>
                </a:solidFill>
                <a:latin typeface="Calibri"/>
              </a:rPr>
              <a:t>4 / 8</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548640" y="347472"/>
            <a:ext cx="11091672" cy="594360"/>
          </a:xfrm>
          <a:prstGeom prst="rect">
            <a:avLst/>
          </a:prstGeom>
          <a:noFill/>
        </p:spPr>
        <p:txBody>
          <a:bodyPr wrap="square">
            <a:spAutoFit/>
          </a:bodyPr>
          <a:lstStyle/>
          <a:p>
            <a:pPr algn="l"/>
            <a:r>
              <a:rPr sz="3600" b="1" i="0">
                <a:solidFill>
                  <a:srgbClr val="FFFFFF"/>
                </a:solidFill>
                <a:latin typeface="Calibri"/>
              </a:rPr>
              <a:t>File Transfer</a:t>
            </a:r>
          </a:p>
        </p:txBody>
      </p:sp>
      <p:sp>
        <p:nvSpPr>
          <p:cNvPr id="3" name="Rectangle 2"/>
          <p:cNvSpPr/>
          <p:nvPr/>
        </p:nvSpPr>
        <p:spPr>
          <a:xfrm>
            <a:off x="548640" y="969264"/>
            <a:ext cx="11091672" cy="25400"/>
          </a:xfrm>
          <a:prstGeom prst="rect">
            <a:avLst/>
          </a:prstGeom>
          <a:solidFill>
            <a:srgbClr val="0D6E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188720"/>
            <a:ext cx="5669280" cy="5303520"/>
          </a:xfrm>
          <a:prstGeom prst="rect">
            <a:avLst/>
          </a:prstGeom>
          <a:noFill/>
        </p:spPr>
        <p:txBody>
          <a:bodyPr wrap="square">
            <a:spAutoFit/>
          </a:bodyPr>
          <a:lstStyle/>
          <a:p>
            <a:pPr>
              <a:spcBef>
                <a:spcPts val="400"/>
              </a:spcBef>
              <a:spcAft>
                <a:spcPts val="400"/>
              </a:spcAft>
            </a:pPr>
            <a:r>
              <a:rPr sz="2200" b="0">
                <a:solidFill>
                  <a:srgbClr val="BBC7D6"/>
                </a:solidFill>
                <a:latin typeface="Calibri"/>
              </a:rPr>
              <a:t>•  Chunked binary transfer strictly trusts Header length per chunk.</a:t>
            </a:r>
          </a:p>
          <a:p>
            <a:pPr>
              <a:spcBef>
                <a:spcPts val="400"/>
              </a:spcBef>
              <a:spcAft>
                <a:spcPts val="400"/>
              </a:spcAft>
            </a:pPr>
            <a:r>
              <a:rPr sz="2200" b="0">
                <a:solidFill>
                  <a:srgbClr val="BBC7D6"/>
                </a:solidFill>
                <a:latin typeface="Calibri"/>
              </a:rPr>
              <a:t>•  Explicit binary-mode file I/O ("rb"/"wb") prevents corruption.</a:t>
            </a:r>
          </a:p>
          <a:p>
            <a:pPr>
              <a:spcBef>
                <a:spcPts val="400"/>
              </a:spcBef>
              <a:spcAft>
                <a:spcPts val="400"/>
              </a:spcAft>
            </a:pPr>
            <a:r>
              <a:rPr sz="2200" b="0">
                <a:solidFill>
                  <a:srgbClr val="BBC7D6"/>
                </a:solidFill>
                <a:latin typeface="Calibri"/>
              </a:rPr>
              <a:t>•  Disconnections mid-transfer trigger partial file cleanup via remove().</a:t>
            </a:r>
          </a:p>
        </p:txBody>
      </p:sp>
      <p:sp>
        <p:nvSpPr>
          <p:cNvPr id="5" name="Rectangle 4"/>
          <p:cNvSpPr/>
          <p:nvPr/>
        </p:nvSpPr>
        <p:spPr>
          <a:xfrm>
            <a:off x="6583680" y="1737360"/>
            <a:ext cx="1645920" cy="640080"/>
          </a:xfrm>
          <a:prstGeom prst="rect">
            <a:avLst/>
          </a:prstGeom>
          <a:solidFill>
            <a:srgbClr val="0D6EF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0">
                <a:solidFill>
                  <a:srgbClr val="FFFFFF"/>
                </a:solidFill>
                <a:latin typeface="Calibri"/>
              </a:rPr>
              <a:t>FILE_START
(metadata)</a:t>
            </a:r>
          </a:p>
        </p:txBody>
      </p:sp>
      <p:sp>
        <p:nvSpPr>
          <p:cNvPr id="6" name="Rectangle 5"/>
          <p:cNvSpPr/>
          <p:nvPr/>
        </p:nvSpPr>
        <p:spPr>
          <a:xfrm>
            <a:off x="7393940" y="2377440"/>
            <a:ext cx="31750" cy="411480"/>
          </a:xfrm>
          <a:prstGeom prst="rect">
            <a:avLst/>
          </a:prstGeom>
          <a:solidFill>
            <a:srgbClr val="5BC0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0" y="2788920"/>
            <a:ext cx="1645920" cy="640080"/>
          </a:xfrm>
          <a:prstGeom prst="rect">
            <a:avLst/>
          </a:prstGeom>
          <a:solidFill>
            <a:srgbClr val="4A5E7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0">
                <a:solidFill>
                  <a:srgbClr val="FFFFFF"/>
                </a:solidFill>
                <a:latin typeface="Calibri"/>
              </a:rPr>
              <a:t>FILE_CHUNK × N
(≤ 1024 bytes each)</a:t>
            </a:r>
          </a:p>
        </p:txBody>
      </p:sp>
      <p:sp>
        <p:nvSpPr>
          <p:cNvPr id="8" name="Rectangle 7"/>
          <p:cNvSpPr/>
          <p:nvPr/>
        </p:nvSpPr>
        <p:spPr>
          <a:xfrm>
            <a:off x="7393940" y="3429000"/>
            <a:ext cx="31750" cy="411480"/>
          </a:xfrm>
          <a:prstGeom prst="rect">
            <a:avLst/>
          </a:prstGeom>
          <a:solidFill>
            <a:srgbClr val="5BC0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583680" y="3840480"/>
            <a:ext cx="1645920" cy="640080"/>
          </a:xfrm>
          <a:prstGeom prst="rect">
            <a:avLst/>
          </a:prstGeom>
          <a:solidFill>
            <a:srgbClr val="197A5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0">
                <a:solidFill>
                  <a:srgbClr val="FFFFFF"/>
                </a:solidFill>
                <a:latin typeface="Calibri"/>
              </a:rPr>
              <a:t>FILE_END
(0-byte signal)</a:t>
            </a:r>
          </a:p>
        </p:txBody>
      </p:sp>
      <p:sp>
        <p:nvSpPr>
          <p:cNvPr id="10" name="Rectangle 9"/>
          <p:cNvSpPr/>
          <p:nvPr/>
        </p:nvSpPr>
        <p:spPr>
          <a:xfrm>
            <a:off x="8732520" y="2263140"/>
            <a:ext cx="1371600" cy="640080"/>
          </a:xfrm>
          <a:prstGeom prst="rect">
            <a:avLst/>
          </a:prstGeom>
          <a:solidFill>
            <a:srgbClr val="1A365C"/>
          </a:solidFill>
          <a:ln w="15240">
            <a:solidFill>
              <a:srgbClr val="0D6EF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0">
                <a:solidFill>
                  <a:srgbClr val="FFFFFF"/>
                </a:solidFill>
                <a:latin typeface="Calibri"/>
              </a:rPr>
              <a:t>Server
(relay, no disk)</a:t>
            </a:r>
          </a:p>
        </p:txBody>
      </p:sp>
      <p:sp>
        <p:nvSpPr>
          <p:cNvPr id="11" name="Rectangle 10"/>
          <p:cNvSpPr/>
          <p:nvPr/>
        </p:nvSpPr>
        <p:spPr>
          <a:xfrm>
            <a:off x="8229600" y="3096260"/>
            <a:ext cx="502920" cy="31750"/>
          </a:xfrm>
          <a:prstGeom prst="rect">
            <a:avLst/>
          </a:prstGeom>
          <a:solidFill>
            <a:srgbClr val="5BC0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972800" y="6492240"/>
            <a:ext cx="1005840" cy="274320"/>
          </a:xfrm>
          <a:prstGeom prst="rect">
            <a:avLst/>
          </a:prstGeom>
          <a:noFill/>
        </p:spPr>
        <p:txBody>
          <a:bodyPr wrap="square">
            <a:spAutoFit/>
          </a:bodyPr>
          <a:lstStyle/>
          <a:p>
            <a:pPr algn="r"/>
            <a:r>
              <a:rPr sz="1100" b="0" i="0">
                <a:solidFill>
                  <a:srgbClr val="4A5E75"/>
                </a:solidFill>
                <a:latin typeface="Calibri"/>
              </a:rPr>
              <a:t>5 / 8</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548640" y="347472"/>
            <a:ext cx="11091672" cy="594360"/>
          </a:xfrm>
          <a:prstGeom prst="rect">
            <a:avLst/>
          </a:prstGeom>
          <a:noFill/>
        </p:spPr>
        <p:txBody>
          <a:bodyPr wrap="square">
            <a:spAutoFit/>
          </a:bodyPr>
          <a:lstStyle/>
          <a:p>
            <a:pPr algn="l"/>
            <a:r>
              <a:rPr sz="3600" b="1" i="0">
                <a:solidFill>
                  <a:srgbClr val="FFFFFF"/>
                </a:solidFill>
                <a:latin typeface="Calibri"/>
              </a:rPr>
              <a:t>Live Demo</a:t>
            </a:r>
          </a:p>
        </p:txBody>
      </p:sp>
      <p:sp>
        <p:nvSpPr>
          <p:cNvPr id="3" name="Rectangle 2"/>
          <p:cNvSpPr/>
          <p:nvPr/>
        </p:nvSpPr>
        <p:spPr>
          <a:xfrm>
            <a:off x="548640" y="969264"/>
            <a:ext cx="11091672" cy="25400"/>
          </a:xfrm>
          <a:prstGeom prst="rect">
            <a:avLst/>
          </a:prstGeom>
          <a:solidFill>
            <a:srgbClr val="0D6E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972800" cy="5120640"/>
          </a:xfrm>
          <a:prstGeom prst="rect">
            <a:avLst/>
          </a:prstGeom>
          <a:noFill/>
        </p:spPr>
        <p:txBody>
          <a:bodyPr wrap="square">
            <a:spAutoFit/>
          </a:bodyPr>
          <a:lstStyle/>
          <a:p>
            <a:pPr>
              <a:spcBef>
                <a:spcPts val="400"/>
              </a:spcBef>
              <a:spcAft>
                <a:spcPts val="400"/>
              </a:spcAft>
            </a:pPr>
            <a:r>
              <a:rPr sz="2600" b="0">
                <a:solidFill>
                  <a:srgbClr val="BBC7D6"/>
                </a:solidFill>
                <a:latin typeface="Calibri"/>
              </a:rPr>
              <a:t>•  Multi-client chat broadcasting.</a:t>
            </a:r>
          </a:p>
          <a:p>
            <a:pPr>
              <a:spcBef>
                <a:spcPts val="400"/>
              </a:spcBef>
              <a:spcAft>
                <a:spcPts val="400"/>
              </a:spcAft>
            </a:pPr>
            <a:r>
              <a:rPr sz="2600" b="0">
                <a:solidFill>
                  <a:srgbClr val="BBC7D6"/>
                </a:solidFill>
                <a:latin typeface="Calibri"/>
              </a:rPr>
              <a:t>•  Duplicate username rejection (interactive prompt without crashing).</a:t>
            </a:r>
          </a:p>
          <a:p>
            <a:pPr>
              <a:spcBef>
                <a:spcPts val="400"/>
              </a:spcBef>
              <a:spcAft>
                <a:spcPts val="400"/>
              </a:spcAft>
            </a:pPr>
            <a:r>
              <a:rPr sz="2600" b="0">
                <a:solidFill>
                  <a:srgbClr val="BBC7D6"/>
                </a:solidFill>
                <a:latin typeface="Calibri"/>
              </a:rPr>
              <a:t>•  Direct file transfer with 100% integrity verification (cmp).</a:t>
            </a:r>
          </a:p>
        </p:txBody>
      </p:sp>
      <p:sp>
        <p:nvSpPr>
          <p:cNvPr id="5" name="TextBox 4"/>
          <p:cNvSpPr txBox="1"/>
          <p:nvPr/>
        </p:nvSpPr>
        <p:spPr>
          <a:xfrm>
            <a:off x="10972800" y="6492240"/>
            <a:ext cx="1005840" cy="274320"/>
          </a:xfrm>
          <a:prstGeom prst="rect">
            <a:avLst/>
          </a:prstGeom>
          <a:noFill/>
        </p:spPr>
        <p:txBody>
          <a:bodyPr wrap="square">
            <a:spAutoFit/>
          </a:bodyPr>
          <a:lstStyle/>
          <a:p>
            <a:pPr algn="r"/>
            <a:r>
              <a:rPr sz="1100" b="0" i="0">
                <a:solidFill>
                  <a:srgbClr val="4A5E75"/>
                </a:solidFill>
                <a:latin typeface="Calibri"/>
              </a:rPr>
              <a:t>6 / 8</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548640" y="347472"/>
            <a:ext cx="11091672" cy="594360"/>
          </a:xfrm>
          <a:prstGeom prst="rect">
            <a:avLst/>
          </a:prstGeom>
          <a:noFill/>
        </p:spPr>
        <p:txBody>
          <a:bodyPr wrap="square">
            <a:spAutoFit/>
          </a:bodyPr>
          <a:lstStyle/>
          <a:p>
            <a:pPr algn="l"/>
            <a:r>
              <a:rPr sz="3600" b="1" i="0">
                <a:solidFill>
                  <a:srgbClr val="FFFFFF"/>
                </a:solidFill>
                <a:latin typeface="Calibri"/>
              </a:rPr>
              <a:t>Known Limitations</a:t>
            </a:r>
          </a:p>
        </p:txBody>
      </p:sp>
      <p:sp>
        <p:nvSpPr>
          <p:cNvPr id="3" name="Rectangle 2"/>
          <p:cNvSpPr/>
          <p:nvPr/>
        </p:nvSpPr>
        <p:spPr>
          <a:xfrm>
            <a:off x="548640" y="969264"/>
            <a:ext cx="11091672" cy="25400"/>
          </a:xfrm>
          <a:prstGeom prst="rect">
            <a:avLst/>
          </a:prstGeom>
          <a:solidFill>
            <a:srgbClr val="0D6E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0" y="1325880"/>
            <a:ext cx="11064240" cy="640080"/>
          </a:xfrm>
          <a:prstGeom prst="rect">
            <a:avLst/>
          </a:prstGeom>
          <a:solidFill>
            <a:srgbClr val="13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1490472"/>
            <a:ext cx="2743200" cy="502920"/>
          </a:xfrm>
          <a:prstGeom prst="rect">
            <a:avLst/>
          </a:prstGeom>
          <a:noFill/>
        </p:spPr>
        <p:txBody>
          <a:bodyPr wrap="square">
            <a:spAutoFit/>
          </a:bodyPr>
          <a:lstStyle/>
          <a:p>
            <a:pPr algn="l"/>
            <a:r>
              <a:rPr sz="1800" b="1" i="0">
                <a:solidFill>
                  <a:srgbClr val="0D6EFD"/>
                </a:solidFill>
                <a:latin typeface="Calibri"/>
              </a:rPr>
              <a:t>Max Client Cap</a:t>
            </a:r>
          </a:p>
        </p:txBody>
      </p:sp>
      <p:sp>
        <p:nvSpPr>
          <p:cNvPr id="6" name="TextBox 5"/>
          <p:cNvSpPr txBox="1"/>
          <p:nvPr/>
        </p:nvSpPr>
        <p:spPr>
          <a:xfrm>
            <a:off x="3611880" y="1490472"/>
            <a:ext cx="7955280" cy="502920"/>
          </a:xfrm>
          <a:prstGeom prst="rect">
            <a:avLst/>
          </a:prstGeom>
          <a:noFill/>
        </p:spPr>
        <p:txBody>
          <a:bodyPr wrap="square">
            <a:spAutoFit/>
          </a:bodyPr>
          <a:lstStyle/>
          <a:p>
            <a:pPr algn="l"/>
            <a:r>
              <a:rPr sz="1800" b="0" i="0">
                <a:solidFill>
                  <a:srgbClr val="BBC7D6"/>
                </a:solidFill>
                <a:latin typeface="Calibri"/>
              </a:rPr>
              <a:t>Limited to 100 concurrent connections.</a:t>
            </a:r>
          </a:p>
        </p:txBody>
      </p:sp>
      <p:sp>
        <p:nvSpPr>
          <p:cNvPr id="7" name="Rectangle 6"/>
          <p:cNvSpPr/>
          <p:nvPr/>
        </p:nvSpPr>
        <p:spPr>
          <a:xfrm>
            <a:off x="548640" y="2011680"/>
            <a:ext cx="11064240" cy="64008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2176272"/>
            <a:ext cx="2743200" cy="502920"/>
          </a:xfrm>
          <a:prstGeom prst="rect">
            <a:avLst/>
          </a:prstGeom>
          <a:noFill/>
        </p:spPr>
        <p:txBody>
          <a:bodyPr wrap="square">
            <a:spAutoFit/>
          </a:bodyPr>
          <a:lstStyle/>
          <a:p>
            <a:pPr algn="l"/>
            <a:r>
              <a:rPr sz="1800" b="1" i="0">
                <a:solidFill>
                  <a:srgbClr val="0D6EFD"/>
                </a:solidFill>
                <a:latin typeface="Calibri"/>
              </a:rPr>
              <a:t>Username Length</a:t>
            </a:r>
          </a:p>
        </p:txBody>
      </p:sp>
      <p:sp>
        <p:nvSpPr>
          <p:cNvPr id="9" name="TextBox 8"/>
          <p:cNvSpPr txBox="1"/>
          <p:nvPr/>
        </p:nvSpPr>
        <p:spPr>
          <a:xfrm>
            <a:off x="3611880" y="2176272"/>
            <a:ext cx="7955280" cy="502920"/>
          </a:xfrm>
          <a:prstGeom prst="rect">
            <a:avLst/>
          </a:prstGeom>
          <a:noFill/>
        </p:spPr>
        <p:txBody>
          <a:bodyPr wrap="square">
            <a:spAutoFit/>
          </a:bodyPr>
          <a:lstStyle/>
          <a:p>
            <a:pPr algn="l"/>
            <a:r>
              <a:rPr sz="1800" b="0" i="0">
                <a:solidFill>
                  <a:srgbClr val="BBC7D6"/>
                </a:solidFill>
                <a:latin typeface="Calibri"/>
              </a:rPr>
              <a:t>Constrained to maximum 32 characters.</a:t>
            </a:r>
          </a:p>
        </p:txBody>
      </p:sp>
      <p:sp>
        <p:nvSpPr>
          <p:cNvPr id="10" name="Rectangle 9"/>
          <p:cNvSpPr/>
          <p:nvPr/>
        </p:nvSpPr>
        <p:spPr>
          <a:xfrm>
            <a:off x="548640" y="2697480"/>
            <a:ext cx="11064240" cy="640080"/>
          </a:xfrm>
          <a:prstGeom prst="rect">
            <a:avLst/>
          </a:prstGeom>
          <a:solidFill>
            <a:srgbClr val="13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2862072"/>
            <a:ext cx="2743200" cy="502920"/>
          </a:xfrm>
          <a:prstGeom prst="rect">
            <a:avLst/>
          </a:prstGeom>
          <a:noFill/>
        </p:spPr>
        <p:txBody>
          <a:bodyPr wrap="square">
            <a:spAutoFit/>
          </a:bodyPr>
          <a:lstStyle/>
          <a:p>
            <a:pPr algn="l"/>
            <a:r>
              <a:rPr sz="1800" b="1" i="0">
                <a:solidFill>
                  <a:srgbClr val="0D6EFD"/>
                </a:solidFill>
                <a:latin typeface="Calibri"/>
              </a:rPr>
              <a:t>Chunk Size</a:t>
            </a:r>
          </a:p>
        </p:txBody>
      </p:sp>
      <p:sp>
        <p:nvSpPr>
          <p:cNvPr id="12" name="TextBox 11"/>
          <p:cNvSpPr txBox="1"/>
          <p:nvPr/>
        </p:nvSpPr>
        <p:spPr>
          <a:xfrm>
            <a:off x="3611880" y="2862072"/>
            <a:ext cx="7955280" cy="502920"/>
          </a:xfrm>
          <a:prstGeom prst="rect">
            <a:avLst/>
          </a:prstGeom>
          <a:noFill/>
        </p:spPr>
        <p:txBody>
          <a:bodyPr wrap="square">
            <a:spAutoFit/>
          </a:bodyPr>
          <a:lstStyle/>
          <a:p>
            <a:pPr algn="l"/>
            <a:r>
              <a:rPr sz="1800" b="0" i="0">
                <a:solidFill>
                  <a:srgbClr val="BBC7D6"/>
                </a:solidFill>
                <a:latin typeface="Calibri"/>
              </a:rPr>
              <a:t>Payloads transmitted in up to 1024 bytes.</a:t>
            </a:r>
          </a:p>
        </p:txBody>
      </p:sp>
      <p:sp>
        <p:nvSpPr>
          <p:cNvPr id="13" name="Rectangle 12"/>
          <p:cNvSpPr/>
          <p:nvPr/>
        </p:nvSpPr>
        <p:spPr>
          <a:xfrm>
            <a:off x="548640" y="3383280"/>
            <a:ext cx="11064240" cy="64008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3547872"/>
            <a:ext cx="2743200" cy="502920"/>
          </a:xfrm>
          <a:prstGeom prst="rect">
            <a:avLst/>
          </a:prstGeom>
          <a:noFill/>
        </p:spPr>
        <p:txBody>
          <a:bodyPr wrap="square">
            <a:spAutoFit/>
          </a:bodyPr>
          <a:lstStyle/>
          <a:p>
            <a:pPr algn="l"/>
            <a:r>
              <a:rPr sz="1800" b="1" i="0">
                <a:solidFill>
                  <a:srgbClr val="0D6EFD"/>
                </a:solidFill>
                <a:latin typeface="Calibri"/>
              </a:rPr>
              <a:t>No Encryption</a:t>
            </a:r>
          </a:p>
        </p:txBody>
      </p:sp>
      <p:sp>
        <p:nvSpPr>
          <p:cNvPr id="15" name="TextBox 14"/>
          <p:cNvSpPr txBox="1"/>
          <p:nvPr/>
        </p:nvSpPr>
        <p:spPr>
          <a:xfrm>
            <a:off x="3611880" y="3547872"/>
            <a:ext cx="7955280" cy="502920"/>
          </a:xfrm>
          <a:prstGeom prst="rect">
            <a:avLst/>
          </a:prstGeom>
          <a:noFill/>
        </p:spPr>
        <p:txBody>
          <a:bodyPr wrap="square">
            <a:spAutoFit/>
          </a:bodyPr>
          <a:lstStyle/>
          <a:p>
            <a:pPr algn="l"/>
            <a:r>
              <a:rPr sz="1800" b="0" i="0">
                <a:solidFill>
                  <a:srgbClr val="BBC7D6"/>
                </a:solidFill>
                <a:latin typeface="Calibri"/>
              </a:rPr>
              <a:t>Plaintext TCP sockets susceptible to packet sniffing.</a:t>
            </a:r>
          </a:p>
        </p:txBody>
      </p:sp>
      <p:sp>
        <p:nvSpPr>
          <p:cNvPr id="16" name="Rectangle 15"/>
          <p:cNvSpPr/>
          <p:nvPr/>
        </p:nvSpPr>
        <p:spPr>
          <a:xfrm>
            <a:off x="548640" y="4069080"/>
            <a:ext cx="11064240" cy="640080"/>
          </a:xfrm>
          <a:prstGeom prst="rect">
            <a:avLst/>
          </a:prstGeom>
          <a:solidFill>
            <a:srgbClr val="13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5800" y="4233672"/>
            <a:ext cx="2743200" cy="502920"/>
          </a:xfrm>
          <a:prstGeom prst="rect">
            <a:avLst/>
          </a:prstGeom>
          <a:noFill/>
        </p:spPr>
        <p:txBody>
          <a:bodyPr wrap="square">
            <a:spAutoFit/>
          </a:bodyPr>
          <a:lstStyle/>
          <a:p>
            <a:pPr algn="l"/>
            <a:r>
              <a:rPr sz="1800" b="1" i="0">
                <a:solidFill>
                  <a:srgbClr val="0D6EFD"/>
                </a:solidFill>
                <a:latin typeface="Calibri"/>
              </a:rPr>
              <a:t>Online Routing</a:t>
            </a:r>
          </a:p>
        </p:txBody>
      </p:sp>
      <p:sp>
        <p:nvSpPr>
          <p:cNvPr id="18" name="TextBox 17"/>
          <p:cNvSpPr txBox="1"/>
          <p:nvPr/>
        </p:nvSpPr>
        <p:spPr>
          <a:xfrm>
            <a:off x="3611880" y="4233672"/>
            <a:ext cx="7955280" cy="502920"/>
          </a:xfrm>
          <a:prstGeom prst="rect">
            <a:avLst/>
          </a:prstGeom>
          <a:noFill/>
        </p:spPr>
        <p:txBody>
          <a:bodyPr wrap="square">
            <a:spAutoFit/>
          </a:bodyPr>
          <a:lstStyle/>
          <a:p>
            <a:pPr algn="l"/>
            <a:r>
              <a:rPr sz="1800" b="0" i="0">
                <a:solidFill>
                  <a:srgbClr val="BBC7D6"/>
                </a:solidFill>
                <a:latin typeface="Calibri"/>
              </a:rPr>
              <a:t>Target users must be online for file transfers.</a:t>
            </a:r>
          </a:p>
        </p:txBody>
      </p:sp>
      <p:sp>
        <p:nvSpPr>
          <p:cNvPr id="19" name="TextBox 18"/>
          <p:cNvSpPr txBox="1"/>
          <p:nvPr/>
        </p:nvSpPr>
        <p:spPr>
          <a:xfrm>
            <a:off x="10972800" y="6492240"/>
            <a:ext cx="1005840" cy="274320"/>
          </a:xfrm>
          <a:prstGeom prst="rect">
            <a:avLst/>
          </a:prstGeom>
          <a:noFill/>
        </p:spPr>
        <p:txBody>
          <a:bodyPr wrap="square">
            <a:spAutoFit/>
          </a:bodyPr>
          <a:lstStyle/>
          <a:p>
            <a:pPr algn="r"/>
            <a:r>
              <a:rPr sz="1100" b="0" i="0">
                <a:solidFill>
                  <a:srgbClr val="4A5E75"/>
                </a:solidFill>
                <a:latin typeface="Calibri"/>
              </a:rPr>
              <a:t>7 / 8</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0D6E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463040"/>
            <a:ext cx="11155680" cy="1097280"/>
          </a:xfrm>
          <a:prstGeom prst="rect">
            <a:avLst/>
          </a:prstGeom>
          <a:noFill/>
        </p:spPr>
        <p:txBody>
          <a:bodyPr wrap="square">
            <a:spAutoFit/>
          </a:bodyPr>
          <a:lstStyle/>
          <a:p>
            <a:pPr algn="l"/>
            <a:r>
              <a:rPr sz="5200" b="1" i="0">
                <a:solidFill>
                  <a:srgbClr val="FFFFFF"/>
                </a:solidFill>
                <a:latin typeface="Calibri"/>
              </a:rPr>
              <a:t>Thank You!</a:t>
            </a:r>
          </a:p>
        </p:txBody>
      </p:sp>
      <p:sp>
        <p:nvSpPr>
          <p:cNvPr id="4" name="TextBox 3"/>
          <p:cNvSpPr txBox="1"/>
          <p:nvPr/>
        </p:nvSpPr>
        <p:spPr>
          <a:xfrm>
            <a:off x="502920" y="2606040"/>
            <a:ext cx="11155680" cy="731520"/>
          </a:xfrm>
          <a:prstGeom prst="rect">
            <a:avLst/>
          </a:prstGeom>
          <a:noFill/>
        </p:spPr>
        <p:txBody>
          <a:bodyPr wrap="square">
            <a:spAutoFit/>
          </a:bodyPr>
          <a:lstStyle/>
          <a:p>
            <a:pPr algn="l"/>
            <a:r>
              <a:rPr sz="3200" b="0" i="0">
                <a:solidFill>
                  <a:srgbClr val="0D6EFD"/>
                </a:solidFill>
                <a:latin typeface="Calibri"/>
              </a:rPr>
              <a:t>Questions?</a:t>
            </a:r>
          </a:p>
        </p:txBody>
      </p:sp>
      <p:sp>
        <p:nvSpPr>
          <p:cNvPr id="5" name="Rectangle 4"/>
          <p:cNvSpPr/>
          <p:nvPr/>
        </p:nvSpPr>
        <p:spPr>
          <a:xfrm>
            <a:off x="502920" y="3429000"/>
            <a:ext cx="11155680" cy="25400"/>
          </a:xfrm>
          <a:prstGeom prst="rect">
            <a:avLst/>
          </a:prstGeom>
          <a:solidFill>
            <a:srgbClr val="0D6E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3657600"/>
            <a:ext cx="7315200" cy="411480"/>
          </a:xfrm>
          <a:prstGeom prst="rect">
            <a:avLst/>
          </a:prstGeom>
          <a:noFill/>
        </p:spPr>
        <p:txBody>
          <a:bodyPr wrap="square">
            <a:spAutoFit/>
          </a:bodyPr>
          <a:lstStyle/>
          <a:p>
            <a:pPr algn="l"/>
            <a:r>
              <a:rPr sz="2000" b="0" i="0">
                <a:solidFill>
                  <a:srgbClr val="BBC7D6"/>
                </a:solidFill>
                <a:latin typeface="Calibri"/>
              </a:rPr>
              <a:t>Madhusudhan Gharti   –   Server &amp; Protocol</a:t>
            </a:r>
          </a:p>
        </p:txBody>
      </p:sp>
      <p:sp>
        <p:nvSpPr>
          <p:cNvPr id="7" name="TextBox 6"/>
          <p:cNvSpPr txBox="1"/>
          <p:nvPr/>
        </p:nvSpPr>
        <p:spPr>
          <a:xfrm>
            <a:off x="502920" y="4114800"/>
            <a:ext cx="7315200" cy="411480"/>
          </a:xfrm>
          <a:prstGeom prst="rect">
            <a:avLst/>
          </a:prstGeom>
          <a:noFill/>
        </p:spPr>
        <p:txBody>
          <a:bodyPr wrap="square">
            <a:spAutoFit/>
          </a:bodyPr>
          <a:lstStyle/>
          <a:p>
            <a:pPr algn="l"/>
            <a:r>
              <a:rPr sz="2000" b="0" i="0">
                <a:solidFill>
                  <a:srgbClr val="BBC7D6"/>
                </a:solidFill>
                <a:latin typeface="Calibri"/>
              </a:rPr>
              <a:t>Aman Joshi              –   Client</a:t>
            </a:r>
          </a:p>
        </p:txBody>
      </p:sp>
      <p:sp>
        <p:nvSpPr>
          <p:cNvPr id="8" name="TextBox 7"/>
          <p:cNvSpPr txBox="1"/>
          <p:nvPr/>
        </p:nvSpPr>
        <p:spPr>
          <a:xfrm>
            <a:off x="502920" y="4572000"/>
            <a:ext cx="7315200" cy="411480"/>
          </a:xfrm>
          <a:prstGeom prst="rect">
            <a:avLst/>
          </a:prstGeom>
          <a:noFill/>
        </p:spPr>
        <p:txBody>
          <a:bodyPr wrap="square">
            <a:spAutoFit/>
          </a:bodyPr>
          <a:lstStyle/>
          <a:p>
            <a:pPr algn="l"/>
            <a:r>
              <a:rPr sz="2000" b="0" i="0">
                <a:solidFill>
                  <a:srgbClr val="BBC7D6"/>
                </a:solidFill>
                <a:latin typeface="Calibri"/>
              </a:rPr>
              <a:t>Siddhanta Chhetri    –   File Transfer &amp; Docs</a:t>
            </a:r>
          </a:p>
        </p:txBody>
      </p:sp>
      <p:sp>
        <p:nvSpPr>
          <p:cNvPr id="9" name="TextBox 8"/>
          <p:cNvSpPr txBox="1"/>
          <p:nvPr/>
        </p:nvSpPr>
        <p:spPr>
          <a:xfrm>
            <a:off x="10972800" y="6492240"/>
            <a:ext cx="1005840" cy="274320"/>
          </a:xfrm>
          <a:prstGeom prst="rect">
            <a:avLst/>
          </a:prstGeom>
          <a:noFill/>
        </p:spPr>
        <p:txBody>
          <a:bodyPr wrap="square">
            <a:spAutoFit/>
          </a:bodyPr>
          <a:lstStyle/>
          <a:p>
            <a:pPr algn="r"/>
            <a:r>
              <a:rPr sz="1100" b="0" i="0">
                <a:solidFill>
                  <a:srgbClr val="4A5E75"/>
                </a:solidFill>
                <a:latin typeface="Calibri"/>
              </a:rPr>
              <a:t>8 / 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